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D36C"/>
    <a:srgbClr val="E89A46"/>
    <a:srgbClr val="27D2E6"/>
    <a:srgbClr val="FC8F30"/>
    <a:srgbClr val="FAB514"/>
    <a:srgbClr val="F2EDAA"/>
    <a:srgbClr val="E68405"/>
    <a:srgbClr val="0FD4A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8856C4-B02F-42F2-A518-8FCC5FFB7614}" v="101" dt="2026-02-20T23:50:30.076"/>
    <p1510:client id="{303D1C9E-38E9-4B65-A6F0-673A3AE61D80}" v="1052" dt="2026-02-21T14:42:52.577"/>
    <p1510:client id="{718242DC-7371-4C23-85CF-9DB7F73C0EE4}" v="110" dt="2026-02-21T15:13:14.990"/>
    <p1510:client id="{927BB956-4A1A-4BE5-91CB-CE5D34BF0016}" v="1" dt="2026-02-20T23:53:19.3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21/02/2026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88191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21/02/2026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98174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21/02/2026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39700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21/02/2026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79029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21/02/2026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52394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21/02/2026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30658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21/02/2026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82375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21/02/2026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60449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21/02/2026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3603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21/02/2026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41863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21/02/2026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15096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771E8B-6CA5-40B2-8038-0E112F3DAC1C}" type="datetimeFigureOut">
              <a:rPr lang="es-ES" smtClean="0"/>
              <a:t>21/02/2026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33118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8E3F8996-CEFE-5F4C-9D64-77B36C46FA4A}"/>
              </a:ext>
            </a:extLst>
          </p:cNvPr>
          <p:cNvSpPr/>
          <p:nvPr/>
        </p:nvSpPr>
        <p:spPr>
          <a:xfrm>
            <a:off x="159200" y="129468"/>
            <a:ext cx="72456" cy="693511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s-ES" sz="135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7DF76CA0-27AE-2F93-C8F8-361C2E0A110A}"/>
              </a:ext>
            </a:extLst>
          </p:cNvPr>
          <p:cNvSpPr/>
          <p:nvPr/>
        </p:nvSpPr>
        <p:spPr>
          <a:xfrm>
            <a:off x="356934" y="908349"/>
            <a:ext cx="45931" cy="1296356"/>
          </a:xfrm>
          <a:prstGeom prst="rect">
            <a:avLst/>
          </a:prstGeom>
          <a:solidFill>
            <a:srgbClr val="F2EDAA"/>
          </a:solidFill>
          <a:ln>
            <a:solidFill>
              <a:srgbClr val="F2ED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350"/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C88614F9-62F8-E3A4-47DE-222B868C7973}"/>
              </a:ext>
            </a:extLst>
          </p:cNvPr>
          <p:cNvSpPr/>
          <p:nvPr/>
        </p:nvSpPr>
        <p:spPr>
          <a:xfrm>
            <a:off x="191958" y="2326111"/>
            <a:ext cx="5549978" cy="30017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s-ES" sz="1350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EBB107ED-B100-E464-61BB-1F66D63AC2F5}"/>
              </a:ext>
            </a:extLst>
          </p:cNvPr>
          <p:cNvSpPr/>
          <p:nvPr/>
        </p:nvSpPr>
        <p:spPr>
          <a:xfrm>
            <a:off x="5873199" y="2326110"/>
            <a:ext cx="3100003" cy="297765"/>
          </a:xfrm>
          <a:prstGeom prst="roundRect">
            <a:avLst/>
          </a:prstGeom>
          <a:solidFill>
            <a:srgbClr val="FC8F30"/>
          </a:solidFill>
          <a:ln>
            <a:solidFill>
              <a:srgbClr val="FC8F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35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D4B0761E-9D85-A657-E32E-31D54BB5BAE2}"/>
              </a:ext>
            </a:extLst>
          </p:cNvPr>
          <p:cNvSpPr/>
          <p:nvPr/>
        </p:nvSpPr>
        <p:spPr>
          <a:xfrm>
            <a:off x="197782" y="2741006"/>
            <a:ext cx="72456" cy="693511"/>
          </a:xfrm>
          <a:prstGeom prst="rect">
            <a:avLst/>
          </a:prstGeom>
          <a:solidFill>
            <a:srgbClr val="ED7D3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35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8AE0379C-2064-36E1-F8C5-AE3814004941}"/>
              </a:ext>
            </a:extLst>
          </p:cNvPr>
          <p:cNvSpPr/>
          <p:nvPr/>
        </p:nvSpPr>
        <p:spPr>
          <a:xfrm>
            <a:off x="188135" y="4313233"/>
            <a:ext cx="72456" cy="693511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35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489E830C-C12F-E551-2824-840531FC7926}"/>
              </a:ext>
            </a:extLst>
          </p:cNvPr>
          <p:cNvSpPr/>
          <p:nvPr/>
        </p:nvSpPr>
        <p:spPr>
          <a:xfrm>
            <a:off x="188134" y="5094524"/>
            <a:ext cx="72456" cy="693511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350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C2DF39C2-B99C-59E9-F2C4-A738A1874167}"/>
              </a:ext>
            </a:extLst>
          </p:cNvPr>
          <p:cNvSpPr/>
          <p:nvPr/>
        </p:nvSpPr>
        <p:spPr>
          <a:xfrm>
            <a:off x="178488" y="5885460"/>
            <a:ext cx="72456" cy="693511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350"/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9C88CBF3-037E-FCED-2F9B-A873D060E9F3}"/>
              </a:ext>
            </a:extLst>
          </p:cNvPr>
          <p:cNvSpPr txBox="1"/>
          <p:nvPr/>
        </p:nvSpPr>
        <p:spPr>
          <a:xfrm>
            <a:off x="498017" y="2296039"/>
            <a:ext cx="179144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b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HITOS CLAVE</a:t>
            </a:r>
            <a:endParaRPr lang="es-ES" b="1">
              <a:solidFill>
                <a:schemeClr val="bg1"/>
              </a:solidFill>
            </a:endParaRP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8E9EEF0C-1F8E-54F6-1F6E-56D967AFC2F8}"/>
              </a:ext>
            </a:extLst>
          </p:cNvPr>
          <p:cNvSpPr txBox="1"/>
          <p:nvPr/>
        </p:nvSpPr>
        <p:spPr>
          <a:xfrm>
            <a:off x="6526498" y="2324795"/>
            <a:ext cx="179144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b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ESTADO ACTUAL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56FD5750-615B-32C3-5201-6200542622ED}"/>
              </a:ext>
            </a:extLst>
          </p:cNvPr>
          <p:cNvSpPr/>
          <p:nvPr/>
        </p:nvSpPr>
        <p:spPr>
          <a:xfrm>
            <a:off x="5925568" y="3962633"/>
            <a:ext cx="53166" cy="148642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350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1B261D66-A7B9-91EB-7697-8CFBB976B588}"/>
              </a:ext>
            </a:extLst>
          </p:cNvPr>
          <p:cNvSpPr/>
          <p:nvPr/>
        </p:nvSpPr>
        <p:spPr>
          <a:xfrm>
            <a:off x="197781" y="3531942"/>
            <a:ext cx="72456" cy="693511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350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B5F3E9D0-6D9D-4B4A-6D3B-24AE62F7941A}"/>
              </a:ext>
            </a:extLst>
          </p:cNvPr>
          <p:cNvSpPr/>
          <p:nvPr/>
        </p:nvSpPr>
        <p:spPr>
          <a:xfrm>
            <a:off x="5926687" y="5509154"/>
            <a:ext cx="52606" cy="1156498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350"/>
          </a:p>
        </p:txBody>
      </p:sp>
      <p:sp>
        <p:nvSpPr>
          <p:cNvPr id="21" name="days_total">
            <a:extLst>
              <a:ext uri="{FF2B5EF4-FFF2-40B4-BE49-F238E27FC236}">
                <a16:creationId xmlns:a16="http://schemas.microsoft.com/office/drawing/2014/main" id="{0BB9006D-6A46-ABD5-68D9-05763E0106E3}"/>
              </a:ext>
            </a:extLst>
          </p:cNvPr>
          <p:cNvSpPr/>
          <p:nvPr/>
        </p:nvSpPr>
        <p:spPr>
          <a:xfrm>
            <a:off x="7520457" y="2749272"/>
            <a:ext cx="1479698" cy="1158480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b"/>
          <a:lstStyle/>
          <a:p>
            <a:pPr algn="ctr"/>
            <a:r>
              <a:rPr lang="es-ES" sz="1400" b="1">
                <a:solidFill>
                  <a:schemeClr val="tx1"/>
                </a:solidFill>
              </a:rPr>
              <a:t>DIAS</a:t>
            </a:r>
            <a:endParaRPr lang="es-ES" sz="1400">
              <a:solidFill>
                <a:schemeClr val="tx1"/>
              </a:solidFill>
            </a:endParaRPr>
          </a:p>
        </p:txBody>
      </p:sp>
      <p:sp>
        <p:nvSpPr>
          <p:cNvPr id="19" name="progress_percent">
            <a:extLst>
              <a:ext uri="{FF2B5EF4-FFF2-40B4-BE49-F238E27FC236}">
                <a16:creationId xmlns:a16="http://schemas.microsoft.com/office/drawing/2014/main" id="{B206D128-A9DF-A836-5E19-1D313942C53C}"/>
              </a:ext>
            </a:extLst>
          </p:cNvPr>
          <p:cNvSpPr/>
          <p:nvPr/>
        </p:nvSpPr>
        <p:spPr>
          <a:xfrm>
            <a:off x="5924115" y="2739626"/>
            <a:ext cx="1496578" cy="1168126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b"/>
          <a:lstStyle/>
          <a:p>
            <a:pPr algn="ctr"/>
            <a:br>
              <a:rPr lang="es-ES" sz="1350">
                <a:solidFill>
                  <a:srgbClr val="E68405"/>
                </a:solidFill>
              </a:rPr>
            </a:br>
            <a:r>
              <a:rPr lang="es-ES" sz="1350" b="1">
                <a:solidFill>
                  <a:schemeClr val="tx1"/>
                </a:solidFill>
              </a:rPr>
              <a:t>AVANCE</a:t>
            </a:r>
          </a:p>
        </p:txBody>
      </p:sp>
      <p:sp>
        <p:nvSpPr>
          <p:cNvPr id="23" name="milestone_5">
            <a:extLst>
              <a:ext uri="{FF2B5EF4-FFF2-40B4-BE49-F238E27FC236}">
                <a16:creationId xmlns:a16="http://schemas.microsoft.com/office/drawing/2014/main" id="{99E4C8C0-FE2F-E7E2-1405-4398D2DD3A25}"/>
              </a:ext>
            </a:extLst>
          </p:cNvPr>
          <p:cNvSpPr/>
          <p:nvPr/>
        </p:nvSpPr>
        <p:spPr>
          <a:xfrm>
            <a:off x="368266" y="5886491"/>
            <a:ext cx="5323456" cy="693084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r>
              <a:rPr lang="es-ES" sz="1350" b="1">
                <a:solidFill>
                  <a:schemeClr val="tx1"/>
                </a:solidFill>
              </a:rPr>
              <a:t>Desarrollo RPA</a:t>
            </a:r>
            <a:endParaRPr lang="es-ES">
              <a:solidFill>
                <a:schemeClr val="tx1"/>
              </a:solidFill>
            </a:endParaRPr>
          </a:p>
        </p:txBody>
      </p:sp>
      <p:sp>
        <p:nvSpPr>
          <p:cNvPr id="17" name="milestone_4">
            <a:extLst>
              <a:ext uri="{FF2B5EF4-FFF2-40B4-BE49-F238E27FC236}">
                <a16:creationId xmlns:a16="http://schemas.microsoft.com/office/drawing/2014/main" id="{D0E3D5CF-DF05-667A-E3DA-EE4CD16D7007}"/>
              </a:ext>
            </a:extLst>
          </p:cNvPr>
          <p:cNvSpPr/>
          <p:nvPr/>
        </p:nvSpPr>
        <p:spPr>
          <a:xfrm>
            <a:off x="377912" y="5095555"/>
            <a:ext cx="5323456" cy="693084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r>
              <a:rPr lang="es-ES" sz="1350" b="1">
                <a:solidFill>
                  <a:schemeClr val="tx1"/>
                </a:solidFill>
              </a:rPr>
              <a:t>Validación Arquitectura</a:t>
            </a:r>
            <a:endParaRPr lang="es-ES" b="1">
              <a:solidFill>
                <a:schemeClr val="tx1"/>
              </a:solidFill>
            </a:endParaRPr>
          </a:p>
        </p:txBody>
      </p:sp>
      <p:sp>
        <p:nvSpPr>
          <p:cNvPr id="16" name="milestone_3">
            <a:extLst>
              <a:ext uri="{FF2B5EF4-FFF2-40B4-BE49-F238E27FC236}">
                <a16:creationId xmlns:a16="http://schemas.microsoft.com/office/drawing/2014/main" id="{CC037AF5-2C84-B1A5-72FC-B032DA434526}"/>
              </a:ext>
            </a:extLst>
          </p:cNvPr>
          <p:cNvSpPr/>
          <p:nvPr/>
        </p:nvSpPr>
        <p:spPr>
          <a:xfrm>
            <a:off x="377913" y="4314264"/>
            <a:ext cx="5323456" cy="693084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r>
              <a:rPr lang="es-ES" sz="1350" b="1">
                <a:solidFill>
                  <a:schemeClr val="tx1"/>
                </a:solidFill>
              </a:rPr>
              <a:t>Aprobación PDD</a:t>
            </a:r>
            <a:endParaRPr lang="es-ES" b="1">
              <a:solidFill>
                <a:schemeClr val="tx1"/>
              </a:solidFill>
            </a:endParaRPr>
          </a:p>
        </p:txBody>
      </p:sp>
      <p:sp>
        <p:nvSpPr>
          <p:cNvPr id="37" name="milestone_2">
            <a:extLst>
              <a:ext uri="{FF2B5EF4-FFF2-40B4-BE49-F238E27FC236}">
                <a16:creationId xmlns:a16="http://schemas.microsoft.com/office/drawing/2014/main" id="{24A13FD7-6DC0-6748-B042-C707BC657B2C}"/>
              </a:ext>
            </a:extLst>
          </p:cNvPr>
          <p:cNvSpPr/>
          <p:nvPr/>
        </p:nvSpPr>
        <p:spPr>
          <a:xfrm>
            <a:off x="358805" y="3532791"/>
            <a:ext cx="5323456" cy="693084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r>
              <a:rPr lang="es-ES" sz="1350" b="1">
                <a:solidFill>
                  <a:schemeClr val="tx1"/>
                </a:solidFill>
              </a:rPr>
              <a:t>Desarrollo PDD</a:t>
            </a:r>
            <a:endParaRPr lang="es-ES" b="1">
              <a:solidFill>
                <a:schemeClr val="tx1"/>
              </a:solidFill>
            </a:endParaRPr>
          </a:p>
        </p:txBody>
      </p:sp>
      <p:sp>
        <p:nvSpPr>
          <p:cNvPr id="13" name="milestone_1">
            <a:extLst>
              <a:ext uri="{FF2B5EF4-FFF2-40B4-BE49-F238E27FC236}">
                <a16:creationId xmlns:a16="http://schemas.microsoft.com/office/drawing/2014/main" id="{4C99A419-79B2-0332-D745-68981572C3DD}"/>
              </a:ext>
            </a:extLst>
          </p:cNvPr>
          <p:cNvSpPr/>
          <p:nvPr/>
        </p:nvSpPr>
        <p:spPr>
          <a:xfrm>
            <a:off x="387560" y="2742037"/>
            <a:ext cx="5323456" cy="693084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r>
              <a:rPr lang="es-ES" sz="1350" b="1">
                <a:solidFill>
                  <a:schemeClr val="tx1"/>
                </a:solidFill>
              </a:rPr>
              <a:t>Levantamiento inicial</a:t>
            </a:r>
            <a:endParaRPr lang="es-ES" b="1">
              <a:solidFill>
                <a:schemeClr val="tx1"/>
              </a:solidFill>
            </a:endParaRPr>
          </a:p>
        </p:txBody>
      </p:sp>
      <p:sp>
        <p:nvSpPr>
          <p:cNvPr id="18" name="project_user_BLOCK">
            <a:extLst>
              <a:ext uri="{FF2B5EF4-FFF2-40B4-BE49-F238E27FC236}">
                <a16:creationId xmlns:a16="http://schemas.microsoft.com/office/drawing/2014/main" id="{0CB51564-1E66-BA1B-94F8-514BA11E4014}"/>
              </a:ext>
            </a:extLst>
          </p:cNvPr>
          <p:cNvSpPr/>
          <p:nvPr/>
        </p:nvSpPr>
        <p:spPr>
          <a:xfrm>
            <a:off x="5866241" y="884829"/>
            <a:ext cx="3125558" cy="131480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br>
              <a:rPr lang="es-ES" sz="1350">
                <a:solidFill>
                  <a:schemeClr val="tx1"/>
                </a:solidFill>
              </a:rPr>
            </a:br>
            <a:endParaRPr lang="es-ES" sz="1350">
              <a:solidFill>
                <a:schemeClr val="tx1"/>
              </a:solidFill>
            </a:endParaRPr>
          </a:p>
        </p:txBody>
      </p:sp>
      <p:sp>
        <p:nvSpPr>
          <p:cNvPr id="12" name="project_scope_BLOCK">
            <a:extLst>
              <a:ext uri="{FF2B5EF4-FFF2-40B4-BE49-F238E27FC236}">
                <a16:creationId xmlns:a16="http://schemas.microsoft.com/office/drawing/2014/main" id="{169A286D-E3D3-79F6-7CBB-14A513DFB648}"/>
              </a:ext>
            </a:extLst>
          </p:cNvPr>
          <p:cNvSpPr/>
          <p:nvPr/>
        </p:nvSpPr>
        <p:spPr>
          <a:xfrm>
            <a:off x="486426" y="899734"/>
            <a:ext cx="5214942" cy="1305578"/>
          </a:xfrm>
          <a:prstGeom prst="roundRect">
            <a:avLst/>
          </a:prstGeom>
          <a:solidFill>
            <a:srgbClr val="F2EDAA"/>
          </a:solidFill>
          <a:ln>
            <a:solidFill>
              <a:srgbClr val="F5D36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s-ES" sz="1350" b="1">
                <a:solidFill>
                  <a:schemeClr val="tx1"/>
                </a:solidFill>
              </a:rPr>
              <a:t>Alcance del proyecto:</a:t>
            </a:r>
          </a:p>
          <a:p>
            <a:endParaRPr lang="es-ES" sz="1350">
              <a:solidFill>
                <a:schemeClr val="tx1"/>
              </a:solidFill>
            </a:endParaRPr>
          </a:p>
          <a:p>
            <a:endParaRPr lang="es-ES" sz="1350">
              <a:solidFill>
                <a:schemeClr val="tx1"/>
              </a:solidFill>
            </a:endParaRPr>
          </a:p>
        </p:txBody>
      </p:sp>
      <p:sp>
        <p:nvSpPr>
          <p:cNvPr id="39" name="date_log1">
            <a:extLst>
              <a:ext uri="{FF2B5EF4-FFF2-40B4-BE49-F238E27FC236}">
                <a16:creationId xmlns:a16="http://schemas.microsoft.com/office/drawing/2014/main" id="{000FA5A9-AE70-E4DE-DDD6-CCE534BFC7C5}"/>
              </a:ext>
            </a:extLst>
          </p:cNvPr>
          <p:cNvSpPr txBox="1"/>
          <p:nvPr/>
        </p:nvSpPr>
        <p:spPr>
          <a:xfrm>
            <a:off x="2734256" y="2842765"/>
            <a:ext cx="1588131" cy="3179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es-ES" sz="1400"/>
              <a:t>FEB 11</a:t>
            </a:r>
          </a:p>
        </p:txBody>
      </p:sp>
      <p:sp>
        <p:nvSpPr>
          <p:cNvPr id="40" name="date_log2">
            <a:extLst>
              <a:ext uri="{FF2B5EF4-FFF2-40B4-BE49-F238E27FC236}">
                <a16:creationId xmlns:a16="http://schemas.microsoft.com/office/drawing/2014/main" id="{E69E7C87-E785-D53E-9DBC-9783E5CA5B2B}"/>
              </a:ext>
            </a:extLst>
          </p:cNvPr>
          <p:cNvSpPr txBox="1"/>
          <p:nvPr/>
        </p:nvSpPr>
        <p:spPr>
          <a:xfrm>
            <a:off x="2621997" y="3663099"/>
            <a:ext cx="170039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es-ES" sz="1400"/>
              <a:t>FEB 11</a:t>
            </a:r>
          </a:p>
        </p:txBody>
      </p:sp>
      <p:sp>
        <p:nvSpPr>
          <p:cNvPr id="41" name="date_log3">
            <a:extLst>
              <a:ext uri="{FF2B5EF4-FFF2-40B4-BE49-F238E27FC236}">
                <a16:creationId xmlns:a16="http://schemas.microsoft.com/office/drawing/2014/main" id="{E9F3953B-F968-7243-9BF4-7B56CB5C858A}"/>
              </a:ext>
            </a:extLst>
          </p:cNvPr>
          <p:cNvSpPr txBox="1"/>
          <p:nvPr/>
        </p:nvSpPr>
        <p:spPr>
          <a:xfrm>
            <a:off x="2611792" y="4358773"/>
            <a:ext cx="1710595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es-ES" sz="1400"/>
              <a:t>FEB 11</a:t>
            </a:r>
            <a:endParaRPr lang="es-ES"/>
          </a:p>
        </p:txBody>
      </p:sp>
      <p:sp>
        <p:nvSpPr>
          <p:cNvPr id="42" name="date_log4">
            <a:extLst>
              <a:ext uri="{FF2B5EF4-FFF2-40B4-BE49-F238E27FC236}">
                <a16:creationId xmlns:a16="http://schemas.microsoft.com/office/drawing/2014/main" id="{6B69DC06-0A07-A5CC-A6CC-6E4357DA02E7}"/>
              </a:ext>
            </a:extLst>
          </p:cNvPr>
          <p:cNvSpPr txBox="1"/>
          <p:nvPr/>
        </p:nvSpPr>
        <p:spPr>
          <a:xfrm>
            <a:off x="2917952" y="5123685"/>
            <a:ext cx="1404435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es-ES" sz="1400" dirty="0"/>
              <a:t>FEB 11</a:t>
            </a:r>
          </a:p>
        </p:txBody>
      </p:sp>
      <p:sp>
        <p:nvSpPr>
          <p:cNvPr id="43" name="date_log5">
            <a:extLst>
              <a:ext uri="{FF2B5EF4-FFF2-40B4-BE49-F238E27FC236}">
                <a16:creationId xmlns:a16="http://schemas.microsoft.com/office/drawing/2014/main" id="{F2193707-9EAF-181E-E462-4A4588F9F8FB}"/>
              </a:ext>
            </a:extLst>
          </p:cNvPr>
          <p:cNvSpPr txBox="1"/>
          <p:nvPr/>
        </p:nvSpPr>
        <p:spPr>
          <a:xfrm>
            <a:off x="2856720" y="5910474"/>
            <a:ext cx="1465667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es-ES" sz="1400" dirty="0"/>
              <a:t>FEB11</a:t>
            </a:r>
            <a:endParaRPr lang="es-ES"/>
          </a:p>
        </p:txBody>
      </p:sp>
      <p:sp>
        <p:nvSpPr>
          <p:cNvPr id="44" name="status1">
            <a:extLst>
              <a:ext uri="{FF2B5EF4-FFF2-40B4-BE49-F238E27FC236}">
                <a16:creationId xmlns:a16="http://schemas.microsoft.com/office/drawing/2014/main" id="{F3995419-FC00-71CC-70C5-414580F84B24}"/>
              </a:ext>
            </a:extLst>
          </p:cNvPr>
          <p:cNvSpPr/>
          <p:nvPr/>
        </p:nvSpPr>
        <p:spPr>
          <a:xfrm>
            <a:off x="4483132" y="2910354"/>
            <a:ext cx="1025725" cy="355584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>
                <a:solidFill>
                  <a:schemeClr val="accent1">
                    <a:lumMod val="76000"/>
                  </a:schemeClr>
                </a:solidFill>
              </a:rPr>
              <a:t>En Proceso</a:t>
            </a:r>
          </a:p>
        </p:txBody>
      </p:sp>
      <p:sp>
        <p:nvSpPr>
          <p:cNvPr id="45" name="status2">
            <a:extLst>
              <a:ext uri="{FF2B5EF4-FFF2-40B4-BE49-F238E27FC236}">
                <a16:creationId xmlns:a16="http://schemas.microsoft.com/office/drawing/2014/main" id="{2F04933A-08D0-ED71-458E-11B8129A54EE}"/>
              </a:ext>
            </a:extLst>
          </p:cNvPr>
          <p:cNvSpPr/>
          <p:nvPr/>
        </p:nvSpPr>
        <p:spPr>
          <a:xfrm>
            <a:off x="4439380" y="3665062"/>
            <a:ext cx="1025725" cy="355584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>
                <a:solidFill>
                  <a:schemeClr val="accent1">
                    <a:lumMod val="76000"/>
                  </a:schemeClr>
                </a:solidFill>
              </a:rPr>
              <a:t>En Proceso</a:t>
            </a:r>
          </a:p>
        </p:txBody>
      </p:sp>
      <p:sp>
        <p:nvSpPr>
          <p:cNvPr id="46" name="status3">
            <a:extLst>
              <a:ext uri="{FF2B5EF4-FFF2-40B4-BE49-F238E27FC236}">
                <a16:creationId xmlns:a16="http://schemas.microsoft.com/office/drawing/2014/main" id="{E6E6379B-A547-301E-0314-62954C26CAEC}"/>
              </a:ext>
            </a:extLst>
          </p:cNvPr>
          <p:cNvSpPr/>
          <p:nvPr/>
        </p:nvSpPr>
        <p:spPr>
          <a:xfrm>
            <a:off x="4439380" y="4485397"/>
            <a:ext cx="1025725" cy="355584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1200">
                <a:solidFill>
                  <a:schemeClr val="accent1">
                    <a:lumMod val="76000"/>
                  </a:schemeClr>
                </a:solidFill>
              </a:rPr>
              <a:t>Pendiente</a:t>
            </a:r>
            <a:endParaRPr lang="es-ES"/>
          </a:p>
        </p:txBody>
      </p:sp>
      <p:sp>
        <p:nvSpPr>
          <p:cNvPr id="47" name="status4">
            <a:extLst>
              <a:ext uri="{FF2B5EF4-FFF2-40B4-BE49-F238E27FC236}">
                <a16:creationId xmlns:a16="http://schemas.microsoft.com/office/drawing/2014/main" id="{03792B5D-8793-2116-ABAD-8FF6C57F6914}"/>
              </a:ext>
            </a:extLst>
          </p:cNvPr>
          <p:cNvSpPr/>
          <p:nvPr/>
        </p:nvSpPr>
        <p:spPr>
          <a:xfrm>
            <a:off x="4439380" y="5261980"/>
            <a:ext cx="1025725" cy="355584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1200">
                <a:solidFill>
                  <a:schemeClr val="accent1">
                    <a:lumMod val="76000"/>
                  </a:schemeClr>
                </a:solidFill>
              </a:rPr>
              <a:t>Pendiente</a:t>
            </a:r>
            <a:endParaRPr lang="es-ES"/>
          </a:p>
        </p:txBody>
      </p:sp>
      <p:sp>
        <p:nvSpPr>
          <p:cNvPr id="48" name="status5">
            <a:extLst>
              <a:ext uri="{FF2B5EF4-FFF2-40B4-BE49-F238E27FC236}">
                <a16:creationId xmlns:a16="http://schemas.microsoft.com/office/drawing/2014/main" id="{6B65D17C-C964-4792-E283-1F0F4249EFFE}"/>
              </a:ext>
            </a:extLst>
          </p:cNvPr>
          <p:cNvSpPr/>
          <p:nvPr/>
        </p:nvSpPr>
        <p:spPr>
          <a:xfrm>
            <a:off x="4439380" y="6016688"/>
            <a:ext cx="1025725" cy="355584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1200">
                <a:solidFill>
                  <a:schemeClr val="accent1">
                    <a:lumMod val="76000"/>
                  </a:schemeClr>
                </a:solidFill>
              </a:rPr>
              <a:t>Pendiente</a:t>
            </a:r>
            <a:endParaRPr lang="es-ES"/>
          </a:p>
        </p:txBody>
      </p:sp>
      <p:sp>
        <p:nvSpPr>
          <p:cNvPr id="38" name="status_log1">
            <a:extLst>
              <a:ext uri="{FF2B5EF4-FFF2-40B4-BE49-F238E27FC236}">
                <a16:creationId xmlns:a16="http://schemas.microsoft.com/office/drawing/2014/main" id="{98B83FF4-B86C-C3C6-4B31-E18BEFF2A570}"/>
              </a:ext>
            </a:extLst>
          </p:cNvPr>
          <p:cNvSpPr txBox="1"/>
          <p:nvPr/>
        </p:nvSpPr>
        <p:spPr>
          <a:xfrm>
            <a:off x="421162" y="3070659"/>
            <a:ext cx="5093804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1400"/>
              <a:t>Estado: 90%</a:t>
            </a:r>
          </a:p>
        </p:txBody>
      </p:sp>
      <p:sp>
        <p:nvSpPr>
          <p:cNvPr id="50" name="status_log2">
            <a:extLst>
              <a:ext uri="{FF2B5EF4-FFF2-40B4-BE49-F238E27FC236}">
                <a16:creationId xmlns:a16="http://schemas.microsoft.com/office/drawing/2014/main" id="{721F0762-02A2-2846-F0DE-55657AD954FB}"/>
              </a:ext>
            </a:extLst>
          </p:cNvPr>
          <p:cNvSpPr txBox="1"/>
          <p:nvPr/>
        </p:nvSpPr>
        <p:spPr>
          <a:xfrm>
            <a:off x="388348" y="3912869"/>
            <a:ext cx="5093804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1400"/>
              <a:t>Estado: 90%</a:t>
            </a:r>
          </a:p>
        </p:txBody>
      </p:sp>
      <p:sp>
        <p:nvSpPr>
          <p:cNvPr id="51" name="status_log3">
            <a:extLst>
              <a:ext uri="{FF2B5EF4-FFF2-40B4-BE49-F238E27FC236}">
                <a16:creationId xmlns:a16="http://schemas.microsoft.com/office/drawing/2014/main" id="{9A4D6FBD-7E3F-F536-ADBC-F3FAA3D55BB8}"/>
              </a:ext>
            </a:extLst>
          </p:cNvPr>
          <p:cNvSpPr txBox="1"/>
          <p:nvPr/>
        </p:nvSpPr>
        <p:spPr>
          <a:xfrm>
            <a:off x="377410" y="4689452"/>
            <a:ext cx="5093804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1400"/>
              <a:t>Estado: Pendiente</a:t>
            </a:r>
          </a:p>
        </p:txBody>
      </p:sp>
      <p:sp>
        <p:nvSpPr>
          <p:cNvPr id="52" name="status_log4">
            <a:extLst>
              <a:ext uri="{FF2B5EF4-FFF2-40B4-BE49-F238E27FC236}">
                <a16:creationId xmlns:a16="http://schemas.microsoft.com/office/drawing/2014/main" id="{37E7603F-C968-A141-8514-85E1070C31ED}"/>
              </a:ext>
            </a:extLst>
          </p:cNvPr>
          <p:cNvSpPr txBox="1"/>
          <p:nvPr/>
        </p:nvSpPr>
        <p:spPr>
          <a:xfrm>
            <a:off x="399285" y="5476973"/>
            <a:ext cx="5093804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1400"/>
              <a:t>Estado: Pendiente</a:t>
            </a:r>
          </a:p>
        </p:txBody>
      </p:sp>
      <p:sp>
        <p:nvSpPr>
          <p:cNvPr id="53" name="status_log5">
            <a:extLst>
              <a:ext uri="{FF2B5EF4-FFF2-40B4-BE49-F238E27FC236}">
                <a16:creationId xmlns:a16="http://schemas.microsoft.com/office/drawing/2014/main" id="{ADEF7764-044B-9154-3A9A-D4FB9F76FFC3}"/>
              </a:ext>
            </a:extLst>
          </p:cNvPr>
          <p:cNvSpPr txBox="1"/>
          <p:nvPr/>
        </p:nvSpPr>
        <p:spPr>
          <a:xfrm>
            <a:off x="355533" y="6275432"/>
            <a:ext cx="5093804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1400"/>
              <a:t>Estado: No Iniciado</a:t>
            </a:r>
          </a:p>
        </p:txBody>
      </p:sp>
      <p:sp>
        <p:nvSpPr>
          <p:cNvPr id="55" name="project_area">
            <a:extLst>
              <a:ext uri="{FF2B5EF4-FFF2-40B4-BE49-F238E27FC236}">
                <a16:creationId xmlns:a16="http://schemas.microsoft.com/office/drawing/2014/main" id="{D0DB83CA-B39C-6A5D-4C9B-9445DA31579C}"/>
              </a:ext>
            </a:extLst>
          </p:cNvPr>
          <p:cNvSpPr txBox="1"/>
          <p:nvPr/>
        </p:nvSpPr>
        <p:spPr>
          <a:xfrm>
            <a:off x="5979527" y="1717610"/>
            <a:ext cx="2335816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1400" b="1"/>
              <a:t>Área</a:t>
            </a:r>
            <a:r>
              <a:rPr lang="es-ES" sz="1400"/>
              <a:t>:  Cobranzas </a:t>
            </a:r>
          </a:p>
        </p:txBody>
      </p:sp>
      <p:sp>
        <p:nvSpPr>
          <p:cNvPr id="54" name="project_user">
            <a:extLst>
              <a:ext uri="{FF2B5EF4-FFF2-40B4-BE49-F238E27FC236}">
                <a16:creationId xmlns:a16="http://schemas.microsoft.com/office/drawing/2014/main" id="{3AD6E459-018E-E971-0059-464A1859FAE8}"/>
              </a:ext>
            </a:extLst>
          </p:cNvPr>
          <p:cNvSpPr txBox="1"/>
          <p:nvPr/>
        </p:nvSpPr>
        <p:spPr>
          <a:xfrm>
            <a:off x="5946714" y="1411352"/>
            <a:ext cx="2335816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1400" b="1"/>
              <a:t>Usuario</a:t>
            </a:r>
            <a:r>
              <a:rPr lang="es-ES" sz="1400"/>
              <a:t>:  Matías Palermo</a:t>
            </a:r>
          </a:p>
        </p:txBody>
      </p:sp>
      <p:sp>
        <p:nvSpPr>
          <p:cNvPr id="56" name="report_date">
            <a:extLst>
              <a:ext uri="{FF2B5EF4-FFF2-40B4-BE49-F238E27FC236}">
                <a16:creationId xmlns:a16="http://schemas.microsoft.com/office/drawing/2014/main" id="{95A84C54-1AE6-765E-1D4B-5107C3E1A975}"/>
              </a:ext>
            </a:extLst>
          </p:cNvPr>
          <p:cNvSpPr txBox="1"/>
          <p:nvPr/>
        </p:nvSpPr>
        <p:spPr>
          <a:xfrm>
            <a:off x="5946713" y="1105093"/>
            <a:ext cx="2335816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1400" b="1"/>
              <a:t>Fecha</a:t>
            </a:r>
            <a:r>
              <a:rPr lang="es-ES" sz="1400"/>
              <a:t>:  20/02/2026</a:t>
            </a:r>
          </a:p>
        </p:txBody>
      </p:sp>
      <p:sp>
        <p:nvSpPr>
          <p:cNvPr id="57" name="project_scope_details">
            <a:extLst>
              <a:ext uri="{FF2B5EF4-FFF2-40B4-BE49-F238E27FC236}">
                <a16:creationId xmlns:a16="http://schemas.microsoft.com/office/drawing/2014/main" id="{D5AB6F30-D966-FB81-DABC-3172505DEC3E}"/>
              </a:ext>
            </a:extLst>
          </p:cNvPr>
          <p:cNvSpPr txBox="1"/>
          <p:nvPr/>
        </p:nvSpPr>
        <p:spPr>
          <a:xfrm>
            <a:off x="683817" y="1252778"/>
            <a:ext cx="4789457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1200" dirty="0"/>
              <a:t>Project </a:t>
            </a:r>
            <a:r>
              <a:rPr lang="es-ES" sz="1200" err="1"/>
              <a:t>scope</a:t>
            </a:r>
            <a:endParaRPr lang="es-ES" sz="1200"/>
          </a:p>
        </p:txBody>
      </p:sp>
      <p:sp>
        <p:nvSpPr>
          <p:cNvPr id="31" name="Project_title">
            <a:extLst>
              <a:ext uri="{FF2B5EF4-FFF2-40B4-BE49-F238E27FC236}">
                <a16:creationId xmlns:a16="http://schemas.microsoft.com/office/drawing/2014/main" id="{9E4523B3-27D1-D6BB-83FA-02422CF3030E}"/>
              </a:ext>
            </a:extLst>
          </p:cNvPr>
          <p:cNvSpPr txBox="1"/>
          <p:nvPr/>
        </p:nvSpPr>
        <p:spPr>
          <a:xfrm>
            <a:off x="497961" y="211623"/>
            <a:ext cx="6167038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2800" b="1"/>
              <a:t>Proyecto: RPA Ventas Crédito/SAP</a:t>
            </a:r>
          </a:p>
        </p:txBody>
      </p:sp>
      <p:sp>
        <p:nvSpPr>
          <p:cNvPr id="60" name="progress_percentage_">
            <a:extLst>
              <a:ext uri="{FF2B5EF4-FFF2-40B4-BE49-F238E27FC236}">
                <a16:creationId xmlns:a16="http://schemas.microsoft.com/office/drawing/2014/main" id="{145C55A0-7845-C1D6-2F52-A468FFE19D27}"/>
              </a:ext>
            </a:extLst>
          </p:cNvPr>
          <p:cNvSpPr txBox="1"/>
          <p:nvPr/>
        </p:nvSpPr>
        <p:spPr>
          <a:xfrm>
            <a:off x="6214535" y="3006032"/>
            <a:ext cx="929957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ES" sz="2800" b="1">
                <a:solidFill>
                  <a:srgbClr val="FC8F30"/>
                </a:solidFill>
              </a:rPr>
              <a:t>20%</a:t>
            </a:r>
            <a:endParaRPr lang="es-ES"/>
          </a:p>
        </p:txBody>
      </p:sp>
      <p:sp>
        <p:nvSpPr>
          <p:cNvPr id="61" name="days_total_">
            <a:extLst>
              <a:ext uri="{FF2B5EF4-FFF2-40B4-BE49-F238E27FC236}">
                <a16:creationId xmlns:a16="http://schemas.microsoft.com/office/drawing/2014/main" id="{2060EE98-CE72-532D-7715-146DD94A8959}"/>
              </a:ext>
            </a:extLst>
          </p:cNvPr>
          <p:cNvSpPr txBox="1"/>
          <p:nvPr/>
        </p:nvSpPr>
        <p:spPr>
          <a:xfrm>
            <a:off x="7789578" y="3055251"/>
            <a:ext cx="831517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ES" sz="2800" b="1">
                <a:solidFill>
                  <a:schemeClr val="tx2">
                    <a:lumMod val="49000"/>
                    <a:lumOff val="51000"/>
                  </a:schemeClr>
                </a:solidFill>
              </a:rPr>
              <a:t>8</a:t>
            </a:r>
            <a:endParaRPr lang="es-ES">
              <a:solidFill>
                <a:schemeClr val="tx2">
                  <a:lumMod val="49000"/>
                  <a:lumOff val="51000"/>
                </a:schemeClr>
              </a:solidFill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14D9D5B0-370E-6146-25C1-3FD1443E770A}"/>
              </a:ext>
            </a:extLst>
          </p:cNvPr>
          <p:cNvSpPr/>
          <p:nvPr/>
        </p:nvSpPr>
        <p:spPr>
          <a:xfrm>
            <a:off x="6014532" y="3963497"/>
            <a:ext cx="2943882" cy="1471705"/>
          </a:xfrm>
          <a:prstGeom prst="rect">
            <a:avLst/>
          </a:prstGeom>
          <a:solidFill>
            <a:srgbClr val="E89A46">
              <a:alpha val="64000"/>
            </a:srgbClr>
          </a:solidFill>
          <a:ln>
            <a:solidFill>
              <a:srgbClr val="F5D36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s-ES" sz="1400" b="1" dirty="0">
                <a:solidFill>
                  <a:schemeClr val="tx1">
                    <a:lumMod val="76000"/>
                    <a:lumOff val="24000"/>
                  </a:schemeClr>
                </a:solidFill>
              </a:rPr>
              <a:t>Observaciones: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6B09F69A-0795-92FE-EDD3-64474FD5C4C2}"/>
              </a:ext>
            </a:extLst>
          </p:cNvPr>
          <p:cNvSpPr/>
          <p:nvPr/>
        </p:nvSpPr>
        <p:spPr>
          <a:xfrm>
            <a:off x="6034942" y="5504505"/>
            <a:ext cx="2964293" cy="1175749"/>
          </a:xfrm>
          <a:prstGeom prst="rect">
            <a:avLst/>
          </a:prstGeom>
          <a:solidFill>
            <a:srgbClr val="E89A46">
              <a:alpha val="64000"/>
            </a:srgbClr>
          </a:solidFill>
          <a:ln>
            <a:solidFill>
              <a:srgbClr val="F5D36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s-ES" sz="1400" b="1" dirty="0">
                <a:solidFill>
                  <a:schemeClr val="tx1">
                    <a:lumMod val="76000"/>
                    <a:lumOff val="24000"/>
                  </a:schemeClr>
                </a:solidFill>
              </a:rPr>
              <a:t>Riesgos:</a:t>
            </a:r>
          </a:p>
        </p:txBody>
      </p:sp>
      <p:sp>
        <p:nvSpPr>
          <p:cNvPr id="58" name="observations_">
            <a:extLst>
              <a:ext uri="{FF2B5EF4-FFF2-40B4-BE49-F238E27FC236}">
                <a16:creationId xmlns:a16="http://schemas.microsoft.com/office/drawing/2014/main" id="{3F6B7260-4A24-78B2-444B-E91340861B2F}"/>
              </a:ext>
            </a:extLst>
          </p:cNvPr>
          <p:cNvSpPr txBox="1"/>
          <p:nvPr/>
        </p:nvSpPr>
        <p:spPr>
          <a:xfrm>
            <a:off x="6025153" y="4233346"/>
            <a:ext cx="2932431" cy="276999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s-ES" sz="1200">
                <a:ea typeface="+mn-lt"/>
                <a:cs typeface="+mn-lt"/>
              </a:rPr>
              <a:t>date_log4</a:t>
            </a:r>
            <a:endParaRPr lang="es-ES" sz="1200"/>
          </a:p>
        </p:txBody>
      </p:sp>
      <p:sp>
        <p:nvSpPr>
          <p:cNvPr id="59" name="risk_">
            <a:extLst>
              <a:ext uri="{FF2B5EF4-FFF2-40B4-BE49-F238E27FC236}">
                <a16:creationId xmlns:a16="http://schemas.microsoft.com/office/drawing/2014/main" id="{2BCE41F5-EE51-AC6E-8A3F-35E71A82AC22}"/>
              </a:ext>
            </a:extLst>
          </p:cNvPr>
          <p:cNvSpPr txBox="1"/>
          <p:nvPr/>
        </p:nvSpPr>
        <p:spPr>
          <a:xfrm>
            <a:off x="6014948" y="5790078"/>
            <a:ext cx="2993663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s-ES" sz="1200">
                <a:ea typeface="+mn-lt"/>
                <a:cs typeface="+mn-lt"/>
              </a:rPr>
              <a:t>date_log4</a:t>
            </a:r>
            <a:endParaRPr lang="es-ES" sz="1200"/>
          </a:p>
        </p:txBody>
      </p:sp>
    </p:spTree>
    <p:extLst>
      <p:ext uri="{BB962C8B-B14F-4D97-AF65-F5344CB8AC3E}">
        <p14:creationId xmlns:p14="http://schemas.microsoft.com/office/powerpoint/2010/main" val="146527300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Presentación en pantalla (4:3)</PresentationFormat>
  <Slides>1</Slides>
  <Notes>0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2" baseType="lpstr">
      <vt:lpstr>Tema de Office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98</cp:revision>
  <dcterms:created xsi:type="dcterms:W3CDTF">2026-02-20T23:38:24Z</dcterms:created>
  <dcterms:modified xsi:type="dcterms:W3CDTF">2026-02-21T15:13:40Z</dcterms:modified>
</cp:coreProperties>
</file>